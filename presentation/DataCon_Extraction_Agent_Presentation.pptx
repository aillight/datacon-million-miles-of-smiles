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60120"/>
            <a:ext cx="896112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DataCon Extraction Agent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13232" y="1664208"/>
            <a:ext cx="786384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Multi-agent extraction pipeline for chemistry PDFs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13232" y="2788920"/>
            <a:ext cx="1901952" cy="658368"/>
          </a:xfrm>
          <a:prstGeom prst="roundRect">
            <a:avLst>
              <a:gd name="adj" fmla="val 5556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953512"/>
            <a:ext cx="1755648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 article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51760" y="3026664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61488" y="2788920"/>
            <a:ext cx="1901952" cy="658368"/>
          </a:xfrm>
          <a:prstGeom prst="roundRect">
            <a:avLst>
              <a:gd name="adj" fmla="val 5556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2953512"/>
            <a:ext cx="1755648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0016" y="3026664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9744" y="2788920"/>
            <a:ext cx="1901952" cy="658368"/>
          </a:xfrm>
          <a:prstGeom prst="roundRect">
            <a:avLst>
              <a:gd name="adj" fmla="val 5556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2896" y="2953512"/>
            <a:ext cx="1755648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48272" y="3026664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0" y="2788920"/>
            <a:ext cx="1901952" cy="658368"/>
          </a:xfrm>
          <a:prstGeom prst="roundRect">
            <a:avLst>
              <a:gd name="adj" fmla="val 5556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31152" y="2953512"/>
            <a:ext cx="1755648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CSV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3232" y="4160520"/>
            <a:ext cx="493776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4160520"/>
            <a:ext cx="73152" cy="1143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325112"/>
            <a:ext cx="453542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Что делает система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4690872"/>
            <a:ext cx="4535424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От PDF-статьи до проверяемой таблицы: Results, Evidence, Rejected, Conflicts, Vision и agent trace.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89320" y="4160520"/>
            <a:ext cx="5257800" cy="1143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89320" y="4160520"/>
            <a:ext cx="73152" cy="1143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90488" y="4325112"/>
            <a:ext cx="485546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Главная идея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90488" y="4690872"/>
            <a:ext cx="4855464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извлекает кандидатов, Python-валидаторы проверяют факты, UI показывает причину каждого решения.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13232" y="6172200"/>
            <a:ext cx="29260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DataCon 2026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SUMMARY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Один слайд: что построено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56616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417320"/>
            <a:ext cx="73152" cy="1371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581912"/>
            <a:ext cx="316382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Цель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1947672"/>
            <a:ext cx="316382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Сделать локальный инструмент, который превращает научную PDF-статью в проверяемый CSV для DataCon-задач извлечения данных.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417320"/>
            <a:ext cx="356616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417320"/>
            <a:ext cx="73152" cy="13716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1581912"/>
            <a:ext cx="316382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Подход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36008" y="1947672"/>
            <a:ext cx="316382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Multi-agent pipeline: parsing, retrieval, extraction, validation, vision, aggregation и quality scoring.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0" y="1417320"/>
            <a:ext cx="320040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417320"/>
            <a:ext cx="73152" cy="13716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30768" y="1581912"/>
            <a:ext cx="279806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Результат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30768" y="1947672"/>
            <a:ext cx="279806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Streamlit UI + CLI + CSV/JSON артефакты + документация + воспроизводимый локальный запуск.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05840" y="3657600"/>
            <a:ext cx="18288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0584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tests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749040" y="3657600"/>
            <a:ext cx="18288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374904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providers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92240" y="3657600"/>
            <a:ext cx="18288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9224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domains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35440" y="3657600"/>
            <a:ext cx="18288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23544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UI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Проблема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4800600" cy="3063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127000" indent="-1270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PDF-статьи содержат нужные данные в тексте, таблицах, формулах и картинках.</a:t>
            </a:r>
            <a:endParaRPr lang="en-US" sz="1400" dirty="0"/>
          </a:p>
          <a:p>
            <a:pPr marL="127000" indent="-1270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без валидаторов часто даёт синтаксически красивый, но химически неверный JSON.</a:t>
            </a:r>
            <a:endParaRPr lang="en-US" sz="1400" dirty="0"/>
          </a:p>
          <a:p>
            <a:pPr marL="127000" indent="-1270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Для соревнования важны не только строки CSV, но и воспроизводимая проверка качества.</a:t>
            </a:r>
            <a:endParaRPr lang="en-US" sz="1400" dirty="0"/>
          </a:p>
          <a:p>
            <a:pPr marL="127000" indent="-127000"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Пользователю нужно видеть, откуда взялась строка и почему часть строк отклонена.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828800"/>
            <a:ext cx="870509" cy="566928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9632" y="1993392"/>
            <a:ext cx="724205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033565" y="2020824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43293" y="1828800"/>
            <a:ext cx="870509" cy="566928"/>
          </a:xfrm>
          <a:prstGeom prst="roundRect">
            <a:avLst>
              <a:gd name="adj" fmla="val 6452"/>
            </a:avLst>
          </a:prstGeom>
          <a:solidFill>
            <a:srgbClr val="FEE2E2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16445" y="1993392"/>
            <a:ext cx="724205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50378" y="2020824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60106" y="1828800"/>
            <a:ext cx="870509" cy="566928"/>
          </a:xfrm>
          <a:prstGeom prst="roundRect">
            <a:avLst>
              <a:gd name="adj" fmla="val 6452"/>
            </a:avLst>
          </a:prstGeom>
          <a:solidFill>
            <a:srgbClr val="FEE2E2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3258" y="1993392"/>
            <a:ext cx="724205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units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067190" y="2020824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76918" y="1828800"/>
            <a:ext cx="870509" cy="566928"/>
          </a:xfrm>
          <a:prstGeom prst="roundRect">
            <a:avLst>
              <a:gd name="adj" fmla="val 6452"/>
            </a:avLst>
          </a:prstGeom>
          <a:solidFill>
            <a:srgbClr val="FEE2E2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0070" y="1993392"/>
            <a:ext cx="724205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formulas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084003" y="2020824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93731" y="1828800"/>
            <a:ext cx="870509" cy="566928"/>
          </a:xfrm>
          <a:prstGeom prst="roundRect">
            <a:avLst>
              <a:gd name="adj" fmla="val 6452"/>
            </a:avLst>
          </a:prstGeom>
          <a:solidFill>
            <a:srgbClr val="FEF3C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66883" y="1993392"/>
            <a:ext cx="724205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risk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2971800"/>
            <a:ext cx="4937760" cy="150876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2971800"/>
            <a:ext cx="73152" cy="15087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3136392"/>
            <a:ext cx="453542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Ключевой риск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27648" y="3502152"/>
            <a:ext cx="4535424" cy="7955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Если не показывать evidence и rejected rows, невозможно быстро понять: ошибка в модели, в PDF-парсинге или в правилах валидации.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DOMAINS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извлекаем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212080" cy="2971800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417320"/>
            <a:ext cx="73152" cy="2971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1581912"/>
            <a:ext cx="48097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molecules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1947672"/>
            <a:ext cx="4809744" cy="22585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Oxazolidinones / Benzimidazoles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Поля: compound_id, SMILES, canonical SMILES, property_name, value, unit.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Валидатор: RDKit.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09360" y="1417320"/>
            <a:ext cx="5212080" cy="2971800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17320"/>
            <a:ext cx="73152" cy="2971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1581912"/>
            <a:ext cx="48097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Nanozymes / Nanocatalysts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10528" y="1947672"/>
            <a:ext cx="4809744" cy="22585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Формулы и свойства материалов: size, diameter, Km, Vmax, yield, conversion, selectivity.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Валидаторы: formula sanity, physical sanity, property policy.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4892040"/>
            <a:ext cx="2103120" cy="256032"/>
          </a:xfrm>
          <a:prstGeom prst="roundRect">
            <a:avLst>
              <a:gd name="adj" fmla="val 17857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4942332"/>
            <a:ext cx="195681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SMILES -&gt; canonical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3657600" y="4892040"/>
            <a:ext cx="2103120" cy="256032"/>
          </a:xfrm>
          <a:prstGeom prst="roundRect">
            <a:avLst>
              <a:gd name="adj" fmla="val 17857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30752" y="4942332"/>
            <a:ext cx="195681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formula -&gt; normalized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400800" y="4892040"/>
            <a:ext cx="2377440" cy="256032"/>
          </a:xfrm>
          <a:prstGeom prst="roundRect">
            <a:avLst>
              <a:gd name="adj" fmla="val 17857"/>
            </a:avLst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4942332"/>
            <a:ext cx="223113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+ table + vision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9235440" y="4892040"/>
            <a:ext cx="2011680" cy="256032"/>
          </a:xfrm>
          <a:prstGeom prst="roundRect">
            <a:avLst>
              <a:gd name="adj" fmla="val 17857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08592" y="4942332"/>
            <a:ext cx="186537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+ evidence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FLOW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Пользовательский сценарий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1463040"/>
            <a:ext cx="2013509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627632"/>
            <a:ext cx="1867205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Select domain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827325" y="171450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37053" y="1463040"/>
            <a:ext cx="2013509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0205" y="1627632"/>
            <a:ext cx="1867205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Upload PDF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987138" y="171450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96866" y="1463040"/>
            <a:ext cx="2013509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0018" y="1627632"/>
            <a:ext cx="1867205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Choose extractor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46950" y="171450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56678" y="1463040"/>
            <a:ext cx="2013509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29830" y="1627632"/>
            <a:ext cx="1867205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Add API key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306763" y="171450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6491" y="1463040"/>
            <a:ext cx="2013509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89643" y="1627632"/>
            <a:ext cx="1867205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Run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68680" y="2743200"/>
            <a:ext cx="4983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" y="2743200"/>
            <a:ext cx="73152" cy="1371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9848" y="2907792"/>
            <a:ext cx="45811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Минимум действий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69848" y="3273552"/>
            <a:ext cx="458114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Обычный сценарий укладывается в четыре шага: домен, PDF, extractor, Run. Дополнительные параметры спрятаны в Advanced.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9360" y="2743200"/>
            <a:ext cx="498348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743200"/>
            <a:ext cx="73152" cy="13716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0528" y="2907792"/>
            <a:ext cx="45811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без боли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10528" y="3273552"/>
            <a:ext cx="458114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Ключ можно вставить прямо в UI на один запуск или положить в `.env`. Секреты не попадают в git.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68680" y="4617720"/>
            <a:ext cx="1042416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8680" y="4617720"/>
            <a:ext cx="73152" cy="8229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9848" y="4782312"/>
            <a:ext cx="1002182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Проверяемость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69848" y="5148072"/>
            <a:ext cx="10021824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После запуска сразу видны clean rows, rejected rows, conflicts, evidence, agent trace и логи.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Архитектура пайплайна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144213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581912"/>
            <a:ext cx="129583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 parser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73075" y="164592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82803" y="1417320"/>
            <a:ext cx="144213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55955" y="1581912"/>
            <a:ext cx="129583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cleanup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61519" y="164592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71247" y="1417320"/>
            <a:ext cx="144213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4399" y="1581912"/>
            <a:ext cx="129583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Chunking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9962" y="164592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59690" y="1417320"/>
            <a:ext cx="144213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32842" y="1581912"/>
            <a:ext cx="129583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38406" y="164592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8134" y="1417320"/>
            <a:ext cx="144213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21286" y="1581912"/>
            <a:ext cx="129583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Extractor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426849" y="164592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6577" y="1417320"/>
            <a:ext cx="144213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09729" y="1581912"/>
            <a:ext cx="129583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15293" y="164592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25021" y="1417320"/>
            <a:ext cx="144213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98173" y="1581912"/>
            <a:ext cx="129583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Aggregation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1520" y="2514600"/>
            <a:ext cx="246888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251460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2679192"/>
            <a:ext cx="20665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32688" y="3044952"/>
            <a:ext cx="2066544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Docling/Camelot превращают PDF в Markdown, таблицы и warnings.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429000" y="2514600"/>
            <a:ext cx="246888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29000" y="2514600"/>
            <a:ext cx="73152" cy="10972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30168" y="2679192"/>
            <a:ext cx="20665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Retrieval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30168" y="3044952"/>
            <a:ext cx="2066544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TF-IDF или HF embeddings выбирают наиболее полезные чанки.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26480" y="2514600"/>
            <a:ext cx="246888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0" y="251460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27648" y="2679192"/>
            <a:ext cx="20665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327648" y="3044952"/>
            <a:ext cx="2066544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возвращает structured rows по Pydantic schema.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823960" y="2514600"/>
            <a:ext cx="246888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823960" y="2514600"/>
            <a:ext cx="73152" cy="10972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25128" y="2679192"/>
            <a:ext cx="20665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Aggregation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025128" y="3044952"/>
            <a:ext cx="2066544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Pandas дедуплицирует, решает конфликты и готовит CSV.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22960" y="4572000"/>
            <a:ext cx="1056132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Идея: LLM не является единственным источником истины. Каждый шаг пишет trace и отдаёт данные Python-валидаторам.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Multi-agent система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1417320"/>
            <a:ext cx="3154680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417320"/>
            <a:ext cx="73152" cy="1005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581912"/>
            <a:ext cx="27523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ParserAgent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78408" y="1947672"/>
            <a:ext cx="2752344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 -&gt; Markdown, tables, chunks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80560" y="1417320"/>
            <a:ext cx="3154680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1417320"/>
            <a:ext cx="73152" cy="10058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1581912"/>
            <a:ext cx="27523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RouterAgent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81728" y="1947672"/>
            <a:ext cx="2752344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выбор домена и extraction graph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83880" y="1417320"/>
            <a:ext cx="3154680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3880" y="1417320"/>
            <a:ext cx="73152" cy="10058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581912"/>
            <a:ext cx="27523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RetrievalAgent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85048" y="1947672"/>
            <a:ext cx="2752344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ranking релевантных чанков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017520"/>
            <a:ext cx="3154680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017520"/>
            <a:ext cx="73152" cy="1005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" y="3182112"/>
            <a:ext cx="27523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ExtractorValidatorAgent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78408" y="3547872"/>
            <a:ext cx="2752344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extraction + retry loop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80560" y="3017520"/>
            <a:ext cx="3154680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80560" y="3017520"/>
            <a:ext cx="73152" cy="10058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81728" y="3182112"/>
            <a:ext cx="27523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VisionAgent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81728" y="3547872"/>
            <a:ext cx="2752344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панели, scale bar, частицы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83880" y="3017520"/>
            <a:ext cx="3154680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83880" y="3017520"/>
            <a:ext cx="73152" cy="10058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85048" y="3182112"/>
            <a:ext cx="27523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AggregatorAgent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385048" y="3547872"/>
            <a:ext cx="2752344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/ rejected / conflicts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14400" y="5120640"/>
            <a:ext cx="10424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 UI это видно во вкладке Agents: агент, статус, summary, metrics и warnings.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LANGGRAPH LOOP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Цикл извлечения и валидации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1417320"/>
            <a:ext cx="2013509" cy="6858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81912"/>
            <a:ext cx="1867205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Chunk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827325" y="166878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37053" y="1417320"/>
            <a:ext cx="2013509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0205" y="1581912"/>
            <a:ext cx="1867205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extractor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987138" y="166878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96866" y="1417320"/>
            <a:ext cx="2013509" cy="6858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0018" y="1581912"/>
            <a:ext cx="1867205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Pydantic schema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46950" y="166878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56678" y="1417320"/>
            <a:ext cx="2013509" cy="6858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29830" y="1581912"/>
            <a:ext cx="1867205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critic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306763" y="166878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6491" y="1417320"/>
            <a:ext cx="2013509" cy="6858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89643" y="1581912"/>
            <a:ext cx="1867205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Retry or Done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4400" y="2743200"/>
            <a:ext cx="466344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2743200"/>
            <a:ext cx="73152" cy="17830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2907792"/>
            <a:ext cx="42611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molecules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15568" y="3273552"/>
            <a:ext cx="4261104" cy="10698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Критик: RDKit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Проверяет SMILES, канонизирует, ловит ошибки колец/валентности, исключает дубли.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0" y="2743200"/>
            <a:ext cx="4663440" cy="17830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2743200"/>
            <a:ext cx="73152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01968" y="2907792"/>
            <a:ext cx="42611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Nano / catalyst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3273552"/>
            <a:ext cx="4261104" cy="10698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Критик: formula + sanity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Проверяет формулы, физические величины, допустимость endpoint и отправляет плохие строки в Rejected.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5840" y="5166360"/>
            <a:ext cx="100584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Retry limit: до 3 попыток на чанк. Ошибки валидации добавляются в следующий prompt.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SELECTION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Retrieval: меньше шума для модели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22960" y="1508760"/>
            <a:ext cx="329184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73152" cy="1371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673352"/>
            <a:ext cx="28895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TF-IDF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24128" y="2039112"/>
            <a:ext cx="288950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Быстро и локально. Хороший default для демо и воспроизводимости.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508760"/>
            <a:ext cx="329184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508760"/>
            <a:ext cx="73152" cy="13716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1673352"/>
            <a:ext cx="28895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HF embeddings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36008" y="2039112"/>
            <a:ext cx="288950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Использует HF feature extraction, если есть HF_TOKEN. Даёт semantic ranking.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508760"/>
            <a:ext cx="3291840" cy="13716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508760"/>
            <a:ext cx="73152" cy="13716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1673352"/>
            <a:ext cx="28895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UI trace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47888" y="2039112"/>
            <a:ext cx="2889504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Во вкладке Chunks видно selected, rank, score, method и preview.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828800" y="3886200"/>
            <a:ext cx="1993392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01952" y="4050792"/>
            <a:ext cx="184708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chunks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58768" y="411480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68496" y="3886200"/>
            <a:ext cx="1993392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41648" y="4050792"/>
            <a:ext cx="184708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ranked chunks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98464" y="411480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08192" y="3886200"/>
            <a:ext cx="1993392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81344" y="4050792"/>
            <a:ext cx="184708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top-k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38160" y="411480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47888" y="3886200"/>
            <a:ext cx="1993392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050792"/>
            <a:ext cx="1847088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input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43000" y="5166360"/>
            <a:ext cx="987552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Зачем: LLM получает не всю статью, а наиболее вероятные разделы с результатами, таблицами и экспериментом.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Vision слой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480060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17320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581912"/>
            <a:ext cx="439826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Что делает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24128" y="1947672"/>
            <a:ext cx="4398264" cy="704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Рендерит страницы, выделяет панели, ищет scale bar и оценивает размеры частиц по контурам.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26480" y="1417320"/>
            <a:ext cx="480060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0" y="1417320"/>
            <a:ext cx="73152" cy="1417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581912"/>
            <a:ext cx="439826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Как попадает в данные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27648" y="1947672"/>
            <a:ext cx="4398264" cy="704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Если найден материал из текста, CV-измерение превращается в строку `particle diameter` с source_type=vision.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3566160"/>
            <a:ext cx="1931213" cy="640080"/>
          </a:xfrm>
          <a:prstGeom prst="roundRect">
            <a:avLst>
              <a:gd name="adj" fmla="val 5714"/>
            </a:avLst>
          </a:prstGeom>
          <a:solidFill>
            <a:srgbClr val="EEF2F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730752"/>
            <a:ext cx="1784909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 page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82189" y="379476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91917" y="3566160"/>
            <a:ext cx="1931213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65069" y="3730752"/>
            <a:ext cx="1784909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panel crop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59706" y="379476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69434" y="3566160"/>
            <a:ext cx="1931213" cy="64008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42586" y="3730752"/>
            <a:ext cx="1784909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bar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037222" y="379476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46950" y="3566160"/>
            <a:ext cx="1931213" cy="64008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20102" y="3730752"/>
            <a:ext cx="1784909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particles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14739" y="379476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24467" y="3566160"/>
            <a:ext cx="1931213" cy="640080"/>
          </a:xfrm>
          <a:prstGeom prst="roundRect">
            <a:avLst>
              <a:gd name="adj" fmla="val 5714"/>
            </a:avLst>
          </a:prstGeom>
          <a:solidFill>
            <a:srgbClr val="EEF2F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97619" y="3730752"/>
            <a:ext cx="1784909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vision row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51560" y="5074920"/>
            <a:ext cx="99669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Если scale bar или material hint не найден, строка не теряется молча: она уходит в Rejected с причиной.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LOGIC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Aggregation: чистый CSV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33832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17320"/>
            <a:ext cx="73152" cy="13258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5819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Deduplication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24128" y="1947672"/>
            <a:ext cx="2980944" cy="612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Группировка по canonical SMILES/property или normalized formula/property/unit/assay/condition.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417320"/>
            <a:ext cx="33832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417320"/>
            <a:ext cx="73152" cy="1325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15819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priority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36008" y="1947672"/>
            <a:ext cx="2980944" cy="612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Таблицы имеют приоритет над текстом; vision расположен между table и text.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417320"/>
            <a:ext cx="33832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417320"/>
            <a:ext cx="73152" cy="1325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15819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47888" y="1947672"/>
            <a:ext cx="2980944" cy="612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Если значения расходятся, выбранная строка идёт в Results, альтернативы попадают в Conflicts.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143000" y="3794760"/>
            <a:ext cx="1839773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16152" y="3959352"/>
            <a:ext cx="1693469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rows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019349" y="402336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29077" y="3794760"/>
            <a:ext cx="1839773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2229" y="3959352"/>
            <a:ext cx="1693469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05426" y="402336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15154" y="3794760"/>
            <a:ext cx="1839773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88306" y="3959352"/>
            <a:ext cx="1693469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sort priority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991502" y="402336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01230" y="3794760"/>
            <a:ext cx="1839773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4382" y="3959352"/>
            <a:ext cx="1693469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deduplicate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977579" y="402336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87307" y="3794760"/>
            <a:ext cx="1839773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0459" y="3959352"/>
            <a:ext cx="1693469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clean.csv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 score и evidence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4983480" cy="150876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17320"/>
            <a:ext cx="73152" cy="1508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581912"/>
            <a:ext cx="45811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quality_score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24128" y="1947672"/>
            <a:ext cx="4581144" cy="7955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Численный индикатор 0-100. Учитывает источник, валидный идентификатор, unit, evidence и condition.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09360" y="1417320"/>
            <a:ext cx="4983480" cy="150876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17320"/>
            <a:ext cx="73152" cy="15087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1581912"/>
            <a:ext cx="45811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quality_flags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10528" y="1947672"/>
            <a:ext cx="4581144" cy="7955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`from_table`, `from_text`, `from_vision`, `valid_formula`, `valid_smiles`, `has_unit`, `has_evidence`.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657600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657600"/>
            <a:ext cx="73152" cy="1325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3822192"/>
            <a:ext cx="45811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tab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4128" y="4187952"/>
            <a:ext cx="4581144" cy="612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Для каждой строки Results можно открыть полный фрагмент текста, из которого взято значение.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3657600"/>
            <a:ext cx="498348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3657600"/>
            <a:ext cx="7315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0528" y="3822192"/>
            <a:ext cx="45811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Rejected tab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10528" y="4187952"/>
            <a:ext cx="4581144" cy="612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Плохие строки не исчезают: сохраняются причина, валидатор, source_id и evidence.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STREAMLIT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UI: что видит пользователь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5486400" cy="3246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127000" indent="-127000">
              <a:buSzPct val="100000"/>
              <a:buChar char="•"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Sidebar: домен, PDF, extractor, Run, временные API-ключи.</a:t>
            </a:r>
            <a:endParaRPr lang="en-US" sz="1350" dirty="0"/>
          </a:p>
          <a:p>
            <a:pPr marL="127000" indent="-127000">
              <a:buSzPct val="100000"/>
              <a:buChar char="•"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Advanced: chunks, attempts, retrieval, model ids, vision pages, scale label.</a:t>
            </a:r>
            <a:endParaRPr lang="en-US" sz="1350" dirty="0"/>
          </a:p>
          <a:p>
            <a:pPr marL="127000" indent="-127000">
              <a:buSzPct val="100000"/>
              <a:buChar char="•"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tabs: Results, Evidence, Rejected, Conflicts, Vision, Agents, Chunks, Log, Markdown.</a:t>
            </a:r>
            <a:endParaRPr lang="en-US" sz="1350" dirty="0"/>
          </a:p>
          <a:p>
            <a:pPr marL="127000" indent="-127000">
              <a:buSzPct val="100000"/>
              <a:buChar char="•"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Download-кнопки и локальные CSV-копии одинаковы на всех вкладках.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629400" y="1828800"/>
            <a:ext cx="4389120" cy="16459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828800"/>
            <a:ext cx="73152" cy="1645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30568" y="1993392"/>
            <a:ext cx="398678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principle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30568" y="2359152"/>
            <a:ext cx="3986784" cy="9326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Максимум пользы на первом экране: таблица, статус и диагностика. Подробности доступны, но не мешают основному flow.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629400" y="4160520"/>
            <a:ext cx="987552" cy="594360"/>
          </a:xfrm>
          <a:prstGeom prst="roundRect">
            <a:avLst>
              <a:gd name="adj" fmla="val 615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02552" y="4325112"/>
            <a:ext cx="841248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653528" y="436626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63256" y="4160520"/>
            <a:ext cx="987552" cy="594360"/>
          </a:xfrm>
          <a:prstGeom prst="roundRect">
            <a:avLst>
              <a:gd name="adj" fmla="val 615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36408" y="4325112"/>
            <a:ext cx="841248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787384" y="436626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97112" y="4160520"/>
            <a:ext cx="987552" cy="594360"/>
          </a:xfrm>
          <a:prstGeom prst="roundRect">
            <a:avLst>
              <a:gd name="adj" fmla="val 615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0264" y="4325112"/>
            <a:ext cx="841248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921240" y="436626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30968" y="4160520"/>
            <a:ext cx="987552" cy="594360"/>
          </a:xfrm>
          <a:prstGeom prst="roundRect">
            <a:avLst>
              <a:gd name="adj" fmla="val 615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04120" y="4325112"/>
            <a:ext cx="841248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Download CSV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CONNECTIVITY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API-провайдеры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32004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17320"/>
            <a:ext cx="73152" cy="2011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581912"/>
            <a:ext cx="279806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Hugging Face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24128" y="1947672"/>
            <a:ext cx="2798064" cy="1298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`HF_TOKEN`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Бесплатные/open-weight модели. Используется и для embeddings.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80560" y="1417320"/>
            <a:ext cx="32004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1417320"/>
            <a:ext cx="73152" cy="20116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1581912"/>
            <a:ext cx="279806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OpenRouter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81728" y="1947672"/>
            <a:ext cx="2798064" cy="1298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`OPENROUTER_API_KEY`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OpenAI-compatible `chat.completions.create`. Работает для small molecules и Nanozymes.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200400" cy="20116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1417320"/>
            <a:ext cx="73152" cy="2011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9328" y="1581912"/>
            <a:ext cx="279806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39328" y="1947672"/>
            <a:ext cx="2798064" cy="1298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`OPENAI_API_KEY`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Подключён через structured `responses.parse`. Сейчас для small molecules.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" y="4251960"/>
            <a:ext cx="10149840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4251960"/>
            <a:ext cx="73152" cy="1005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416552"/>
            <a:ext cx="97475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Удобство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61288" y="4782312"/>
            <a:ext cx="9747504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Ключи можно вставить прямо в UI на один запуск, положить в `.env`, Streamlit secrets или системные переменные.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REPRODUCIBILITY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 и артефакты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1078992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.venv\Scripts\python.exe scripts\run_article_pipeline.py article.pdf --domain Nanozymes --extractor openrouter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68680" y="2514600"/>
            <a:ext cx="2148840" cy="256032"/>
          </a:xfrm>
          <a:prstGeom prst="roundRect">
            <a:avLst>
              <a:gd name="adj" fmla="val 17857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1832" y="2564892"/>
            <a:ext cx="200253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clean.csv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3611880" y="2514600"/>
            <a:ext cx="2148840" cy="256032"/>
          </a:xfrm>
          <a:prstGeom prst="roundRect">
            <a:avLst>
              <a:gd name="adj" fmla="val 17857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2564892"/>
            <a:ext cx="200253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rejected.csv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6355080" y="2514600"/>
            <a:ext cx="2148840" cy="256032"/>
          </a:xfrm>
          <a:prstGeom prst="roundRect">
            <a:avLst>
              <a:gd name="adj" fmla="val 17857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2564892"/>
            <a:ext cx="200253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conflicts.csv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9098280" y="2514600"/>
            <a:ext cx="2148840" cy="256032"/>
          </a:xfrm>
          <a:prstGeom prst="roundRect">
            <a:avLst>
              <a:gd name="adj" fmla="val 17857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564892"/>
            <a:ext cx="200253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prepared.md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868680" y="3291840"/>
            <a:ext cx="2148840" cy="256032"/>
          </a:xfrm>
          <a:prstGeom prst="roundRect">
            <a:avLst>
              <a:gd name="adj" fmla="val 17857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3342132"/>
            <a:ext cx="200253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chunks.json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611880" y="3291840"/>
            <a:ext cx="2148840" cy="256032"/>
          </a:xfrm>
          <a:prstGeom prst="roundRect">
            <a:avLst>
              <a:gd name="adj" fmla="val 17857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85032" y="3342132"/>
            <a:ext cx="200253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retrieval.json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355080" y="3291840"/>
            <a:ext cx="2148840" cy="256032"/>
          </a:xfrm>
          <a:prstGeom prst="roundRect">
            <a:avLst>
              <a:gd name="adj" fmla="val 17857"/>
            </a:avLst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28232" y="3342132"/>
            <a:ext cx="200253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agent_trace.json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9098280" y="3291840"/>
            <a:ext cx="2148840" cy="256032"/>
          </a:xfrm>
          <a:prstGeom prst="roundRect">
            <a:avLst>
              <a:gd name="adj" fmla="val 17857"/>
            </a:avLst>
          </a:prstGeom>
          <a:solidFill>
            <a:srgbClr val="DCFCE7"/>
          </a:solidFill>
          <a:ln w="12700">
            <a:solidFill>
              <a:srgbClr val="DCFCE7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71432" y="3342132"/>
            <a:ext cx="2002536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6A3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manifest.json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960120" y="4754880"/>
            <a:ext cx="1014984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0120" y="4754880"/>
            <a:ext cx="73152" cy="8229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61288" y="4919472"/>
            <a:ext cx="97475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Почему это важно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61288" y="5285232"/>
            <a:ext cx="9747504" cy="109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Можно воспроизвести запуск, посмотреть параметры, выбранные чанки, ошибки extractors и итоговые таблицы.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Текущее качество инженерной части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05840" y="1645920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93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2011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 OK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0" y="1645920"/>
            <a:ext cx="228600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6576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secret leaks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29400" y="1645920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629400" y="2148840"/>
            <a:ext cx="2011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slides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144000" y="1645920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144000" y="2148840"/>
            <a:ext cx="20116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UI OK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0120" y="3657600"/>
            <a:ext cx="10058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127000" indent="-127000">
              <a:buSzPct val="100000"/>
              <a:buChar char="•"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tests покрывают extraction graph, nano validation, aggregation, retrieval, UI pipeline и CLI artifacts.</a:t>
            </a:r>
            <a:endParaRPr lang="en-US" sz="1350" dirty="0"/>
          </a:p>
          <a:p>
            <a:pPr marL="127000" indent="-127000">
              <a:buSzPct val="100000"/>
              <a:buChar char="•"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Секреты не коммитятся: `.env` в `.gitignore`, проверка regex перед push.</a:t>
            </a:r>
            <a:endParaRPr lang="en-US" sz="1350" dirty="0"/>
          </a:p>
          <a:p>
            <a:pPr marL="127000" indent="-127000">
              <a:buSzPct val="100000"/>
              <a:buChar char="•"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README описывает запуск, API-ключи, UI, CLI, архитектуру и ограничения.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16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 INTERPRETATION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Как читать результат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1417320"/>
            <a:ext cx="201350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81912"/>
            <a:ext cx="186720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827325" y="164592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37053" y="1417320"/>
            <a:ext cx="201350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0205" y="1581912"/>
            <a:ext cx="186720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987138" y="164592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96866" y="1417320"/>
            <a:ext cx="201350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0018" y="1581912"/>
            <a:ext cx="186720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46950" y="164592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56678" y="1417320"/>
            <a:ext cx="201350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29830" y="1581912"/>
            <a:ext cx="186720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306763" y="164592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16491" y="1417320"/>
            <a:ext cx="2013509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89643" y="1581912"/>
            <a:ext cx="1867205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" y="2606040"/>
            <a:ext cx="333756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2606040"/>
            <a:ext cx="73152" cy="13258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2770632"/>
            <a:ext cx="293522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24128" y="3136392"/>
            <a:ext cx="2935224" cy="612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Основная таблица: материал или SMILES, свойство, значение, единица измерения, source_type и quality_score.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434840" y="2606040"/>
            <a:ext cx="333756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34840" y="2606040"/>
            <a:ext cx="73152" cy="1325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6008" y="2770632"/>
            <a:ext cx="293522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636008" y="3136392"/>
            <a:ext cx="2935224" cy="612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Проверочный слой: полный фрагмент текста, из которого была получена выбранная строка.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46720" y="2606040"/>
            <a:ext cx="3337560" cy="1325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0" y="2606040"/>
            <a:ext cx="7315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7888" y="2770632"/>
            <a:ext cx="293522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47888" y="3136392"/>
            <a:ext cx="2935224" cy="6126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Контроль качества: строки, которые модель нашла, но схема, формула, unit или sanity-check их отклонили.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920240" y="4617720"/>
            <a:ext cx="83210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20240" y="4617720"/>
            <a:ext cx="73152" cy="868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1408" y="4782312"/>
            <a:ext cx="79187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Conflicts + Agents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121408" y="5148072"/>
            <a:ext cx="7918704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Conflicts показывают расхождения значений, Agents объясняет путь данных через этапы pipeline.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17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Ограничения и честные риски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338328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17320"/>
            <a:ext cx="73152" cy="1417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5819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PDF parsing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24128" y="1947672"/>
            <a:ext cx="2980944" cy="704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Сложные PDF и отсутствие Ghostscript могут снижать качество таблиц. Есть fallback, но не магия.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417320"/>
            <a:ext cx="338328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417320"/>
            <a:ext cx="73152" cy="1417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15819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variability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36008" y="1947672"/>
            <a:ext cx="2980944" cy="704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HF/OpenRouter модели могут возвращать неполные поля. Сейчас такие строки попадают в Rejected.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417320"/>
            <a:ext cx="338328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417320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15819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47888" y="1947672"/>
            <a:ext cx="2980944" cy="704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CV зависит от качества страниц, scale bar и material hint. Ошибки явно логируются.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" y="3886200"/>
            <a:ext cx="1014984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3886200"/>
            <a:ext cx="73152" cy="10515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050792"/>
            <a:ext cx="974750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Как управляем риском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61288" y="4416552"/>
            <a:ext cx="9747504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Evidence, rejected rows, conflicts, agent trace, tests и воспроизводимые artifacts делают ошибки видимыми.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18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Следующие улучшения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22960" y="1417320"/>
            <a:ext cx="338328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417320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5819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 tab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24128" y="1947672"/>
            <a:ext cx="2980944" cy="704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Загрузка эталонного CSV, precision/recall/F1, missed/extra rows.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417320"/>
            <a:ext cx="338328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1417320"/>
            <a:ext cx="73152" cy="1417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15819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repair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36008" y="1947672"/>
            <a:ext cx="2980944" cy="704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Автоматически восстанавливать пустые formula/unit из evidence и соседних строк.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417320"/>
            <a:ext cx="338328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417320"/>
            <a:ext cx="73152" cy="1417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15819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Vision fallback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47888" y="1947672"/>
            <a:ext cx="2980944" cy="704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Добавить альтернативный рендер PDF, если PDFium падает.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474720"/>
            <a:ext cx="338328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74720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4128" y="36393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Provider presets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4128" y="4005072"/>
            <a:ext cx="2980944" cy="704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Готовые профили моделей: free/fast/accurate, чтобы пользователю не вводить model id руками.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34840" y="3474720"/>
            <a:ext cx="338328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34840" y="3474720"/>
            <a:ext cx="73152" cy="1417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6008" y="36393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export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636008" y="4005072"/>
            <a:ext cx="2980944" cy="704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Единый HTML/Markdown отчет: Results + Evidence + Agents + Manifest.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46720" y="3474720"/>
            <a:ext cx="3383280" cy="141732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3474720"/>
            <a:ext cx="73152" cy="1417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47888" y="3639312"/>
            <a:ext cx="298094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domains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47888" y="4005072"/>
            <a:ext cx="2980944" cy="7040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Расширить правила и схемы под другие предметные домены и типы статей.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19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Финальный вывод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051560"/>
            <a:ext cx="11201400" cy="0"/>
          </a:xfrm>
          <a:prstGeom prst="line">
            <a:avLst/>
          </a:prstGeom>
          <a:noFill/>
          <a:ln w="12700">
            <a:solidFill>
              <a:srgbClr val="D6DD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6446520"/>
            <a:ext cx="1965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DataCon Extraction Agent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10332720" cy="594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Проект превращает PDF-статью в проверяемый CSV, а не просто в ответ LLM.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1051560" y="2834640"/>
            <a:ext cx="1894637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4712" y="2999232"/>
            <a:ext cx="1748333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UI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982773" y="308610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92501" y="2834640"/>
            <a:ext cx="1894637" cy="6858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65653" y="2999232"/>
            <a:ext cx="1748333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Multi-agent trace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3714" y="308610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33442" y="2834640"/>
            <a:ext cx="1894637" cy="6858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06594" y="2999232"/>
            <a:ext cx="1748333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064654" y="308610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74382" y="2834640"/>
            <a:ext cx="1894637" cy="6858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47534" y="2999232"/>
            <a:ext cx="1748333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105595" y="3086100"/>
            <a:ext cx="73152" cy="182880"/>
          </a:xfrm>
          <a:prstGeom prst="rightArrow">
            <a:avLst/>
          </a:prstGeom>
          <a:solidFill>
            <a:srgbClr val="D6DDE8"/>
          </a:solidFill>
          <a:ln w="12700">
            <a:solidFill>
              <a:srgbClr val="D6DDE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15323" y="2834640"/>
            <a:ext cx="1894637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8475" y="2999232"/>
            <a:ext cx="1748333" cy="4297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CSV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97280" y="4434840"/>
            <a:ext cx="9966960" cy="1097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97280" y="4434840"/>
            <a:ext cx="73152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98448" y="4599432"/>
            <a:ext cx="9564624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Главная ценность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98448" y="4965192"/>
            <a:ext cx="9564624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Система делает извлечение данных прозрачным: видно, что принято, что отклонено, почему и из какого фрагмента статьи.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47572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B6472"/>
                </a:solidFill>
              </a:rPr>
              <a:t>20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DataCon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DataCon Extraction Agent</dc:title>
  <dc:subject>Multi-agent PDF extraction pipeline for chemistry article data</dc:subject>
  <dc:creator>DataCon Extraction Agent</dc:creator>
  <cp:lastModifiedBy>DataCon Extraction Agent</cp:lastModifiedBy>
  <cp:revision>1</cp:revision>
  <dcterms:created xsi:type="dcterms:W3CDTF">2026-06-28T09:10:17Z</dcterms:created>
  <dcterms:modified xsi:type="dcterms:W3CDTF">2026-06-28T09:10:17Z</dcterms:modified>
</cp:coreProperties>
</file>